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4"/>
  </p:sldMasterIdLst>
  <p:notesMasterIdLst>
    <p:notesMasterId r:id="rId19"/>
  </p:notesMasterIdLst>
  <p:handoutMasterIdLst>
    <p:handoutMasterId r:id="rId20"/>
  </p:handoutMasterIdLst>
  <p:sldIdLst>
    <p:sldId id="256" r:id="rId5"/>
    <p:sldId id="257" r:id="rId6"/>
    <p:sldId id="269" r:id="rId7"/>
    <p:sldId id="270" r:id="rId8"/>
    <p:sldId id="271" r:id="rId9"/>
    <p:sldId id="272" r:id="rId10"/>
    <p:sldId id="273" r:id="rId11"/>
    <p:sldId id="274" r:id="rId12"/>
    <p:sldId id="279" r:id="rId13"/>
    <p:sldId id="278" r:id="rId14"/>
    <p:sldId id="275" r:id="rId15"/>
    <p:sldId id="276" r:id="rId16"/>
    <p:sldId id="277" r:id="rId17"/>
    <p:sldId id="268" r:id="rId18"/>
  </p:sldIdLst>
  <p:sldSz cx="9144000" cy="6858000" type="screen4x3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AB2E2"/>
    <a:srgbClr val="2A66AC"/>
    <a:srgbClr val="75A4DD"/>
    <a:srgbClr val="2E6CB8"/>
    <a:srgbClr val="2A65AC"/>
    <a:srgbClr val="255997"/>
    <a:srgbClr val="3379CD"/>
    <a:srgbClr val="558ED5"/>
    <a:srgbClr val="78A6DE"/>
    <a:srgbClr val="9DBE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58" d="100"/>
          <a:sy n="58" d="100"/>
        </p:scale>
        <p:origin x="1520" y="6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ndeep Kaur" userId="e5cd7a0fc2f14ddf" providerId="LiveId" clId="{E23DB937-FDCA-4E4A-80B9-3B61C1673969}"/>
    <pc:docChg chg="undo custSel addSld modSld sldOrd">
      <pc:chgData name="Mandeep Kaur" userId="e5cd7a0fc2f14ddf" providerId="LiveId" clId="{E23DB937-FDCA-4E4A-80B9-3B61C1673969}" dt="2026-05-19T07:31:45.736" v="193" actId="20577"/>
      <pc:docMkLst>
        <pc:docMk/>
      </pc:docMkLst>
      <pc:sldChg chg="addSp delSp modSp mod ord">
        <pc:chgData name="Mandeep Kaur" userId="e5cd7a0fc2f14ddf" providerId="LiveId" clId="{E23DB937-FDCA-4E4A-80B9-3B61C1673969}" dt="2026-05-19T07:30:57.871" v="160" actId="20577"/>
        <pc:sldMkLst>
          <pc:docMk/>
          <pc:sldMk cId="1139099340" sldId="275"/>
        </pc:sldMkLst>
        <pc:spChg chg="mod">
          <ac:chgData name="Mandeep Kaur" userId="e5cd7a0fc2f14ddf" providerId="LiveId" clId="{E23DB937-FDCA-4E4A-80B9-3B61C1673969}" dt="2026-05-19T07:30:57.871" v="160" actId="20577"/>
          <ac:spMkLst>
            <pc:docMk/>
            <pc:sldMk cId="1139099340" sldId="275"/>
            <ac:spMk id="5" creationId="{B3D3B11A-110E-C248-5FB7-89A7D6293787}"/>
          </ac:spMkLst>
        </pc:spChg>
        <pc:spChg chg="mod">
          <ac:chgData name="Mandeep Kaur" userId="e5cd7a0fc2f14ddf" providerId="LiveId" clId="{E23DB937-FDCA-4E4A-80B9-3B61C1673969}" dt="2026-05-19T05:12:49.506" v="80" actId="20577"/>
          <ac:spMkLst>
            <pc:docMk/>
            <pc:sldMk cId="1139099340" sldId="275"/>
            <ac:spMk id="108" creationId="{8C181EC1-A83D-0F82-71E8-2C39E49FC266}"/>
          </ac:spMkLst>
        </pc:spChg>
        <pc:graphicFrameChg chg="del mod modGraphic">
          <ac:chgData name="Mandeep Kaur" userId="e5cd7a0fc2f14ddf" providerId="LiveId" clId="{E23DB937-FDCA-4E4A-80B9-3B61C1673969}" dt="2026-05-19T05:08:38.474" v="2" actId="478"/>
          <ac:graphicFrameMkLst>
            <pc:docMk/>
            <pc:sldMk cId="1139099340" sldId="275"/>
            <ac:graphicFrameMk id="2" creationId="{8F9C3444-2862-816E-AFFA-3E73662D6859}"/>
          </ac:graphicFrameMkLst>
        </pc:graphicFrameChg>
        <pc:graphicFrameChg chg="add del mod modGraphic">
          <ac:chgData name="Mandeep Kaur" userId="e5cd7a0fc2f14ddf" providerId="LiveId" clId="{E23DB937-FDCA-4E4A-80B9-3B61C1673969}" dt="2026-05-19T05:09:13.232" v="11" actId="478"/>
          <ac:graphicFrameMkLst>
            <pc:docMk/>
            <pc:sldMk cId="1139099340" sldId="275"/>
            <ac:graphicFrameMk id="3" creationId="{A926796F-E828-608A-D1FB-74A22535A5BB}"/>
          </ac:graphicFrameMkLst>
        </pc:graphicFrameChg>
        <pc:graphicFrameChg chg="add del mod modGraphic">
          <ac:chgData name="Mandeep Kaur" userId="e5cd7a0fc2f14ddf" providerId="LiveId" clId="{E23DB937-FDCA-4E4A-80B9-3B61C1673969}" dt="2026-05-19T05:12:29.842" v="63" actId="478"/>
          <ac:graphicFrameMkLst>
            <pc:docMk/>
            <pc:sldMk cId="1139099340" sldId="275"/>
            <ac:graphicFrameMk id="4" creationId="{DCFF0F7A-4B95-2068-2413-9125EB76B792}"/>
          </ac:graphicFrameMkLst>
        </pc:graphicFrameChg>
        <pc:graphicFrameChg chg="add mod">
          <ac:chgData name="Mandeep Kaur" userId="e5cd7a0fc2f14ddf" providerId="LiveId" clId="{E23DB937-FDCA-4E4A-80B9-3B61C1673969}" dt="2026-05-19T07:29:25.996" v="114"/>
          <ac:graphicFrameMkLst>
            <pc:docMk/>
            <pc:sldMk cId="1139099340" sldId="275"/>
            <ac:graphicFrameMk id="6" creationId="{273F4684-51CC-27D2-C63F-C591F731772D}"/>
          </ac:graphicFrameMkLst>
        </pc:graphicFrameChg>
        <pc:graphicFrameChg chg="add mod modGraphic">
          <ac:chgData name="Mandeep Kaur" userId="e5cd7a0fc2f14ddf" providerId="LiveId" clId="{E23DB937-FDCA-4E4A-80B9-3B61C1673969}" dt="2026-05-19T07:30:43.020" v="134" actId="403"/>
          <ac:graphicFrameMkLst>
            <pc:docMk/>
            <pc:sldMk cId="1139099340" sldId="275"/>
            <ac:graphicFrameMk id="7" creationId="{0A0B56FA-EF4B-5E0D-0BC9-ECBAD51E5748}"/>
          </ac:graphicFrameMkLst>
        </pc:graphicFrameChg>
      </pc:sldChg>
      <pc:sldChg chg="addSp delSp modSp add mod">
        <pc:chgData name="Mandeep Kaur" userId="e5cd7a0fc2f14ddf" providerId="LiveId" clId="{E23DB937-FDCA-4E4A-80B9-3B61C1673969}" dt="2026-05-19T05:13:35.530" v="112" actId="20577"/>
        <pc:sldMkLst>
          <pc:docMk/>
          <pc:sldMk cId="2438235557" sldId="278"/>
        </pc:sldMkLst>
        <pc:spChg chg="add mod">
          <ac:chgData name="Mandeep Kaur" userId="e5cd7a0fc2f14ddf" providerId="LiveId" clId="{E23DB937-FDCA-4E4A-80B9-3B61C1673969}" dt="2026-05-19T05:11:22.494" v="56"/>
          <ac:spMkLst>
            <pc:docMk/>
            <pc:sldMk cId="2438235557" sldId="278"/>
            <ac:spMk id="6" creationId="{EC2201CC-7808-7CEF-8182-8C06E36B3C2C}"/>
          </ac:spMkLst>
        </pc:spChg>
        <pc:spChg chg="mod">
          <ac:chgData name="Mandeep Kaur" userId="e5cd7a0fc2f14ddf" providerId="LiveId" clId="{E23DB937-FDCA-4E4A-80B9-3B61C1673969}" dt="2026-05-19T05:13:35.530" v="112" actId="20577"/>
          <ac:spMkLst>
            <pc:docMk/>
            <pc:sldMk cId="2438235557" sldId="278"/>
            <ac:spMk id="108" creationId="{239FA8DA-8192-1FDE-3AA4-A67650B992E7}"/>
          </ac:spMkLst>
        </pc:spChg>
        <pc:grpChg chg="add mod">
          <ac:chgData name="Mandeep Kaur" userId="e5cd7a0fc2f14ddf" providerId="LiveId" clId="{E23DB937-FDCA-4E4A-80B9-3B61C1673969}" dt="2026-05-19T05:11:29.389" v="58" actId="14100"/>
          <ac:grpSpMkLst>
            <pc:docMk/>
            <pc:sldMk cId="2438235557" sldId="278"/>
            <ac:grpSpMk id="2" creationId="{17F02B02-4C61-E02A-F7D1-45F1986EB840}"/>
          </ac:grpSpMkLst>
        </pc:grpChg>
        <pc:graphicFrameChg chg="del mod modGraphic">
          <ac:chgData name="Mandeep Kaur" userId="e5cd7a0fc2f14ddf" providerId="LiveId" clId="{E23DB937-FDCA-4E4A-80B9-3B61C1673969}" dt="2026-05-19T05:11:21.563" v="55" actId="478"/>
          <ac:graphicFrameMkLst>
            <pc:docMk/>
            <pc:sldMk cId="2438235557" sldId="278"/>
            <ac:graphicFrameMk id="4" creationId="{544720D5-6CA8-A7DC-1F02-6EA0742025F8}"/>
          </ac:graphicFrameMkLst>
        </pc:graphicFrameChg>
        <pc:picChg chg="add mod">
          <ac:chgData name="Mandeep Kaur" userId="e5cd7a0fc2f14ddf" providerId="LiveId" clId="{E23DB937-FDCA-4E4A-80B9-3B61C1673969}" dt="2026-05-19T05:11:22.494" v="56"/>
          <ac:picMkLst>
            <pc:docMk/>
            <pc:sldMk cId="2438235557" sldId="278"/>
            <ac:picMk id="3" creationId="{DBB70222-3A63-977A-D4C0-243980F1F765}"/>
          </ac:picMkLst>
        </pc:picChg>
      </pc:sldChg>
      <pc:sldChg chg="modSp add mod">
        <pc:chgData name="Mandeep Kaur" userId="e5cd7a0fc2f14ddf" providerId="LiveId" clId="{E23DB937-FDCA-4E4A-80B9-3B61C1673969}" dt="2026-05-19T07:31:45.736" v="193" actId="20577"/>
        <pc:sldMkLst>
          <pc:docMk/>
          <pc:sldMk cId="1395040785" sldId="279"/>
        </pc:sldMkLst>
        <pc:spChg chg="mod">
          <ac:chgData name="Mandeep Kaur" userId="e5cd7a0fc2f14ddf" providerId="LiveId" clId="{E23DB937-FDCA-4E4A-80B9-3B61C1673969}" dt="2026-05-19T07:31:32.620" v="164" actId="20577"/>
          <ac:spMkLst>
            <pc:docMk/>
            <pc:sldMk cId="1395040785" sldId="279"/>
            <ac:spMk id="5" creationId="{8BF9FE5B-F878-D3B8-852B-767914589004}"/>
          </ac:spMkLst>
        </pc:spChg>
        <pc:spChg chg="mod">
          <ac:chgData name="Mandeep Kaur" userId="e5cd7a0fc2f14ddf" providerId="LiveId" clId="{E23DB937-FDCA-4E4A-80B9-3B61C1673969}" dt="2026-05-19T07:31:45.736" v="193" actId="20577"/>
          <ac:spMkLst>
            <pc:docMk/>
            <pc:sldMk cId="1395040785" sldId="279"/>
            <ac:spMk id="108" creationId="{2657B3AA-8FD7-F77D-C5EC-AC3C6475D4DF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F607C9A-EDB5-4C0A-BCFE-81AAF6133E6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F00B0C-2831-4624-A5D3-43F42D30BA7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D2B5EB-424D-4C39-A8AB-65F1D7895EF3}" type="datetimeFigureOut">
              <a:rPr lang="en-US" smtClean="0"/>
              <a:pPr/>
              <a:t>5/19/2026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34ABA9-0C2F-480A-B554-A457296C39B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F3BA01-5457-4975-8BF5-D0EAD49D534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199376-55CE-4213-A97D-9D70929AC50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002274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8BC1CF-45D5-4DEE-AAB8-8C5341844FC9}" type="datetimeFigureOut">
              <a:rPr lang="en-US" smtClean="0"/>
              <a:pPr/>
              <a:t>5/19/2026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A7523A-12D4-4E0F-9409-B3F845B483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122221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A7523A-12D4-4E0F-9409-B3F845B48333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99BB95-9755-4BC6-8051-C2B8CF54F2A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Name of the faculty [Group: G00] [Sem:2nd]</a:t>
            </a:r>
          </a:p>
        </p:txBody>
      </p:sp>
    </p:spTree>
    <p:extLst>
      <p:ext uri="{BB962C8B-B14F-4D97-AF65-F5344CB8AC3E}">
        <p14:creationId xmlns:p14="http://schemas.microsoft.com/office/powerpoint/2010/main" val="42548747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subTitle"/>
          </p:nvPr>
        </p:nvSpPr>
        <p:spPr>
          <a:xfrm>
            <a:off x="0" y="0"/>
            <a:ext cx="5486040" cy="4238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5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ustomShape 1"/>
          <p:cNvSpPr/>
          <p:nvPr/>
        </p:nvSpPr>
        <p:spPr>
          <a:xfrm>
            <a:off x="0" y="0"/>
            <a:ext cx="9143640" cy="837720"/>
          </a:xfrm>
          <a:prstGeom prst="rect">
            <a:avLst/>
          </a:prstGeom>
          <a:solidFill>
            <a:srgbClr val="FF3300"/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" name="CustomShape 2"/>
          <p:cNvSpPr/>
          <p:nvPr/>
        </p:nvSpPr>
        <p:spPr>
          <a:xfrm flipV="1">
            <a:off x="0" y="6704640"/>
            <a:ext cx="9143640" cy="197640"/>
          </a:xfrm>
          <a:prstGeom prst="rect">
            <a:avLst/>
          </a:prstGeom>
          <a:solidFill>
            <a:srgbClr val="FF0000"/>
          </a:solidFill>
          <a:ln w="9360">
            <a:noFill/>
          </a:ln>
          <a:scene3d>
            <a:camera prst="orthographicFront"/>
            <a:lightRig rig="threePt" dir="t"/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2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pic>
        <p:nvPicPr>
          <p:cNvPr id="3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4" name="Group 3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5" name="CustomShape 4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6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7" name="CustomShape 5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pic>
        <p:nvPicPr>
          <p:cNvPr id="8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pic>
        <p:nvPicPr>
          <p:cNvPr id="9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10" name="Group 6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11" name="CustomShape 7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12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13" name="CustomShape 8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pic>
        <p:nvPicPr>
          <p:cNvPr id="14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sp>
        <p:nvSpPr>
          <p:cNvPr id="15" name="PlaceHolder 9"/>
          <p:cNvSpPr>
            <a:spLocks noGrp="1"/>
          </p:cNvSpPr>
          <p:nvPr>
            <p:ph type="title"/>
          </p:nvPr>
        </p:nvSpPr>
        <p:spPr>
          <a:xfrm>
            <a:off x="0" y="0"/>
            <a:ext cx="6476760" cy="83772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0" strike="noStrike" spc="-1">
                <a:solidFill>
                  <a:srgbClr val="000000"/>
                </a:solidFill>
                <a:latin typeface="Calibri"/>
                <a:ea typeface="MS PGothic"/>
              </a:rPr>
              <a:t>Click to edit Master title style</a:t>
            </a:r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10"/>
          <p:cNvSpPr>
            <a:spLocks noGrp="1"/>
          </p:cNvSpPr>
          <p:nvPr>
            <p:ph type="body"/>
          </p:nvPr>
        </p:nvSpPr>
        <p:spPr>
          <a:xfrm>
            <a:off x="457200" y="1371600"/>
            <a:ext cx="8229240" cy="4525560"/>
          </a:xfrm>
          <a:prstGeom prst="rect">
            <a:avLst/>
          </a:prstGeom>
        </p:spPr>
        <p:txBody>
          <a:bodyPr>
            <a:noAutofit/>
          </a:bodyPr>
          <a:lstStyle/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  <a:ea typeface="MS PGothic"/>
              </a:rPr>
              <a:t>Click to edit Master text styles</a:t>
            </a: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  <a:p>
            <a:pPr marL="743040" lvl="1" indent="-2854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  <a:ea typeface="MS PGothic"/>
              </a:rPr>
              <a:t>Second level</a:t>
            </a:r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  <a:p>
            <a:pPr marL="1143000" lvl="2" indent="-2282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rgbClr val="000000"/>
                </a:solidFill>
                <a:latin typeface="Calibri"/>
                <a:ea typeface="MS PGothic"/>
              </a:rPr>
              <a:t>Third level</a:t>
            </a:r>
            <a:endParaRPr lang="en-US" sz="2400" b="0" strike="noStrike" spc="-1">
              <a:solidFill>
                <a:srgbClr val="000000"/>
              </a:solidFill>
              <a:latin typeface="Calibri"/>
            </a:endParaRPr>
          </a:p>
          <a:p>
            <a:pPr marL="1600200" lvl="3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  <a:ea typeface="MS PGothic"/>
              </a:rPr>
              <a:t>Fourth level</a:t>
            </a:r>
            <a:endParaRPr lang="en-US" sz="2000" b="0" strike="noStrike" spc="-1">
              <a:solidFill>
                <a:srgbClr val="000000"/>
              </a:solidFill>
              <a:latin typeface="Calibri"/>
            </a:endParaRPr>
          </a:p>
          <a:p>
            <a:pPr marL="2057400" lvl="4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  <a:ea typeface="MS PGothic"/>
              </a:rPr>
              <a:t>Fifth level</a:t>
            </a:r>
            <a:endParaRPr lang="en-US" sz="2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11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endParaRPr lang="en-GB" sz="1200" b="0" strike="noStrike" spc="-1">
              <a:latin typeface="Times New Roman"/>
            </a:endParaRPr>
          </a:p>
        </p:txBody>
      </p:sp>
      <p:sp>
        <p:nvSpPr>
          <p:cNvPr id="18" name="PlaceHolder 12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r>
              <a:rPr lang="en-GB" sz="2400" b="0" strike="noStrike" spc="-1">
                <a:latin typeface="Times New Roman"/>
              </a:rPr>
              <a:t>Name</a:t>
            </a:r>
          </a:p>
        </p:txBody>
      </p:sp>
      <p:sp>
        <p:nvSpPr>
          <p:cNvPr id="19" name="PlaceHolder 13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1CFDC92E-FF5D-4613-8499-B15BC16E50D9}" type="slidenum">
              <a:rPr lang="en-US" sz="1200" b="0" strike="noStrike" spc="-1">
                <a:solidFill>
                  <a:srgbClr val="898989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‹#›</a:t>
            </a:fld>
            <a:endParaRPr lang="en-GB" sz="12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d.docs.live.net/e5cd7a0fc2f14ddf/Desktop/Downloads/online%5eMshoppers%5eMpurchasing%5eMintention%5eMdataset/online_shoppers_intention.csv" TargetMode="Externa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Shape 1"/>
          <p:cNvSpPr txBox="1"/>
          <p:nvPr/>
        </p:nvSpPr>
        <p:spPr>
          <a:xfrm>
            <a:off x="0" y="840631"/>
            <a:ext cx="9144000" cy="5810425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IN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Research Paper Presentation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On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Artificial Intelligence in Business &amp; Marketing</a:t>
            </a:r>
            <a:endParaRPr lang="en-US" sz="2000" i="1" spc="-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b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</a:b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Mandeep Kaur Walia (</a:t>
            </a:r>
            <a: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2210991879)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 err="1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Shiwali</a:t>
            </a: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 (2210992334)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Shivam Kumar (2210992312)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Shivam Sharma (2210992316)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Supervised By :</a:t>
            </a:r>
            <a:r>
              <a:rPr lang="en-US" sz="2000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Ms. Simar Virk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Department of </a:t>
            </a:r>
            <a:r>
              <a:rPr lang="en-US" sz="2400" b="0" strike="noStrike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Computer Science and Engineering, 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b="0" strike="noStrike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Chitkara University, Punjab</a:t>
            </a:r>
          </a:p>
          <a:p>
            <a:pPr algn="ctr"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641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2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Artificial Intelligence is transforming business and marketing operations. 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improves efficiency, automation, and customer targeting. 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However, AI-generated marketing content lacks creativity and emotional depth. 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research compares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AI-driven, Human-led, and Hybrid marketing strategies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study is based on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secondary data and marketing datasets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show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Hybrid marketing performs best overall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endParaRPr lang="en-US" sz="20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0B2204-87CF-E3A7-F713-91E281AD83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>
            <a:extLst>
              <a:ext uri="{FF2B5EF4-FFF2-40B4-BE49-F238E27FC236}">
                <a16:creationId xmlns:a16="http://schemas.microsoft.com/office/drawing/2014/main" id="{05FFAA0D-55DA-46BC-BF96-FB350FEEB682}"/>
              </a:ext>
            </a:extLst>
          </p:cNvPr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>
            <a:extLst>
              <a:ext uri="{FF2B5EF4-FFF2-40B4-BE49-F238E27FC236}">
                <a16:creationId xmlns:a16="http://schemas.microsoft.com/office/drawing/2014/main" id="{D1900BCC-16CC-7958-C86B-2EB88D600807}"/>
              </a:ext>
            </a:extLst>
          </p:cNvPr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3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>
            <a:extLst>
              <a:ext uri="{FF2B5EF4-FFF2-40B4-BE49-F238E27FC236}">
                <a16:creationId xmlns:a16="http://schemas.microsoft.com/office/drawing/2014/main" id="{DC769B22-E21B-15B9-A508-035D320E3C7E}"/>
              </a:ext>
            </a:extLst>
          </p:cNvPr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is widely used in marketing for: 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Content generation 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segmentation 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 systems 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Marketing automation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improves efficiency and reduces marketing costs.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However, over-reliance on AI may reduce creativity and brand uniqueness.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creates a conflict between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efficiency and creativity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marketing.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research studies the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impact of AI on marketing performance and creativity</a:t>
            </a:r>
            <a:r>
              <a:rPr lang="en-US" dirty="0"/>
              <a:t>. 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endParaRPr lang="en-US" sz="20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50414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2A2E38-69C5-051C-5C56-32B64447B7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>
            <a:extLst>
              <a:ext uri="{FF2B5EF4-FFF2-40B4-BE49-F238E27FC236}">
                <a16:creationId xmlns:a16="http://schemas.microsoft.com/office/drawing/2014/main" id="{9818BE5B-4EF6-AC38-06E2-7EEA29A3CEA9}"/>
              </a:ext>
            </a:extLst>
          </p:cNvPr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Objectives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>
            <a:extLst>
              <a:ext uri="{FF2B5EF4-FFF2-40B4-BE49-F238E27FC236}">
                <a16:creationId xmlns:a16="http://schemas.microsoft.com/office/drawing/2014/main" id="{E2B36F7F-702B-DB5C-3685-37D4A4F6DFBD}"/>
              </a:ext>
            </a:extLst>
          </p:cNvPr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4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>
            <a:extLst>
              <a:ext uri="{FF2B5EF4-FFF2-40B4-BE49-F238E27FC236}">
                <a16:creationId xmlns:a16="http://schemas.microsoft.com/office/drawing/2014/main" id="{AB28009F-06D1-D1C8-DA91-59AE22D1E102}"/>
              </a:ext>
            </a:extLst>
          </p:cNvPr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study the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role of AI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business and marketing. 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compare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AI-driven, Human-led, and Hybrid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marketing strategies. 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analyze marketing performance using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engagement and conversion metrics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study the impact of AI on creativity and brand recall. 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identify the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effective marketing approach.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21700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A358FE-284F-51E7-9F2B-7B92704BCD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>
            <a:extLst>
              <a:ext uri="{FF2B5EF4-FFF2-40B4-BE49-F238E27FC236}">
                <a16:creationId xmlns:a16="http://schemas.microsoft.com/office/drawing/2014/main" id="{B740B535-2101-5B2D-02E0-ED8DA8AD64F0}"/>
              </a:ext>
            </a:extLst>
          </p:cNvPr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Related Work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>
            <a:extLst>
              <a:ext uri="{FF2B5EF4-FFF2-40B4-BE49-F238E27FC236}">
                <a16:creationId xmlns:a16="http://schemas.microsoft.com/office/drawing/2014/main" id="{5DF020D2-30BE-9BFA-3B45-89D8751068D6}"/>
              </a:ext>
            </a:extLst>
          </p:cNvPr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5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>
            <a:extLst>
              <a:ext uri="{FF2B5EF4-FFF2-40B4-BE49-F238E27FC236}">
                <a16:creationId xmlns:a16="http://schemas.microsoft.com/office/drawing/2014/main" id="{C94C5B22-EAB6-F5C5-0F1D-15F4BA2FEFA2}"/>
              </a:ext>
            </a:extLst>
          </p:cNvPr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Previous studies show AI improves:                                                                                                                                  </a:t>
            </a: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targeting </a:t>
            </a: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Personalization </a:t>
            </a: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Marketing automation 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recommendation systems increase customer engagement. 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NLP tools are used for automated content generation. 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However, studies also show AI lacks: </a:t>
            </a: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Emotional intelligence </a:t>
            </a: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Creativity </a:t>
            </a: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Original storytelling </a:t>
            </a:r>
          </a:p>
          <a:p>
            <a:endParaRPr lang="en-US" sz="20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47662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187C1E-7376-4AB3-7C7D-2E9D6C72F7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>
            <a:extLst>
              <a:ext uri="{FF2B5EF4-FFF2-40B4-BE49-F238E27FC236}">
                <a16:creationId xmlns:a16="http://schemas.microsoft.com/office/drawing/2014/main" id="{5F60001E-03BE-DE43-1431-633EBC5AB118}"/>
              </a:ext>
            </a:extLst>
          </p:cNvPr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>
            <a:extLst>
              <a:ext uri="{FF2B5EF4-FFF2-40B4-BE49-F238E27FC236}">
                <a16:creationId xmlns:a16="http://schemas.microsoft.com/office/drawing/2014/main" id="{F2281701-9E76-BB82-C892-FE49E3ADB4E2}"/>
              </a:ext>
            </a:extLst>
          </p:cNvPr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6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>
            <a:extLst>
              <a:ext uri="{FF2B5EF4-FFF2-40B4-BE49-F238E27FC236}">
                <a16:creationId xmlns:a16="http://schemas.microsoft.com/office/drawing/2014/main" id="{DB35F327-E6A4-3B1A-A031-B675642F1D9B}"/>
              </a:ext>
            </a:extLst>
          </p:cNvPr>
          <p:cNvSpPr txBox="1"/>
          <p:nvPr/>
        </p:nvSpPr>
        <p:spPr>
          <a:xfrm>
            <a:off x="152640" y="1076692"/>
            <a:ext cx="8838720" cy="5357159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research is based on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secondary data analysis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sources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include: </a:t>
            </a: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papers </a:t>
            </a: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Industry reports </a:t>
            </a: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Marketing datasets 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comparative analysis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was performed between: </a:t>
            </a: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AI-driven marketing </a:t>
            </a: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Human-led marketing </a:t>
            </a: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Hybrid marketing 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metrics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analyzed: </a:t>
            </a: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Engagement </a:t>
            </a: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Conversion </a:t>
            </a: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Recall </a:t>
            </a: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Creativity </a:t>
            </a: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 </a:t>
            </a: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Production Time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74157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259A1A-4C2A-549F-65DD-62A58F8DFD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>
            <a:extLst>
              <a:ext uri="{FF2B5EF4-FFF2-40B4-BE49-F238E27FC236}">
                <a16:creationId xmlns:a16="http://schemas.microsoft.com/office/drawing/2014/main" id="{29D2D182-20FE-F6BE-54FA-5DD5C3069E24}"/>
              </a:ext>
            </a:extLst>
          </p:cNvPr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Datasets Used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>
            <a:extLst>
              <a:ext uri="{FF2B5EF4-FFF2-40B4-BE49-F238E27FC236}">
                <a16:creationId xmlns:a16="http://schemas.microsoft.com/office/drawing/2014/main" id="{E64402C0-EA3A-5A57-6280-A7F2BBC1BE18}"/>
              </a:ext>
            </a:extLst>
          </p:cNvPr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7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>
            <a:extLst>
              <a:ext uri="{FF2B5EF4-FFF2-40B4-BE49-F238E27FC236}">
                <a16:creationId xmlns:a16="http://schemas.microsoft.com/office/drawing/2014/main" id="{54057CF9-B060-8F8A-1701-4A7922DD67DF}"/>
              </a:ext>
            </a:extLst>
          </p:cNvPr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</a:t>
            </a:r>
            <a:r>
              <a:rPr lang="en-US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Online Shoppers Purchasing Intention dataset 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analysis shows an average conversion rate of approximately 15.47%, indicating that </a:t>
            </a:r>
            <a:r>
              <a:rPr lang="en-US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customer engagement and interaction metrics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significantly influence purchase decisions. Bounce rates and exit rates were found to negatively correlate with conversion, suggesting that higher engagement leads to higher conversion probability. These behavioral insights support the </a:t>
            </a:r>
            <a:r>
              <a:rPr lang="en-US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importance of personalized and optimized marketing strategies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which are commonly achieved using AI-driven marketing tools.</a:t>
            </a:r>
          </a:p>
          <a:p>
            <a:pPr>
              <a:lnSpc>
                <a:spcPct val="100000"/>
              </a:lnSpc>
              <a:spcBef>
                <a:spcPts val="400"/>
              </a:spcBef>
            </a:pPr>
            <a:r>
              <a:rPr lang="en-US" sz="14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https://d.docs.live.net/e5cd7a0fc2f14ddf/Desktop/Downloads/online%5eMshoppers%5eMpurchasing%5eMintention%5eMdataset/online_shoppers_intention.csv</a:t>
            </a:r>
            <a:endParaRPr lang="en-US" sz="1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to analyze: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engagement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Conversion behavior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Marketing effectiveness</a:t>
            </a: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03082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9059A3-C196-BB44-B72A-763E4F7940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>
            <a:extLst>
              <a:ext uri="{FF2B5EF4-FFF2-40B4-BE49-F238E27FC236}">
                <a16:creationId xmlns:a16="http://schemas.microsoft.com/office/drawing/2014/main" id="{FE29F948-C9BE-139A-3419-08412DA5F877}"/>
              </a:ext>
            </a:extLst>
          </p:cNvPr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Datasets Used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>
            <a:extLst>
              <a:ext uri="{FF2B5EF4-FFF2-40B4-BE49-F238E27FC236}">
                <a16:creationId xmlns:a16="http://schemas.microsoft.com/office/drawing/2014/main" id="{4746DDDB-F911-9235-D805-690123DFAA50}"/>
              </a:ext>
            </a:extLst>
          </p:cNvPr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8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>
            <a:extLst>
              <a:ext uri="{FF2B5EF4-FFF2-40B4-BE49-F238E27FC236}">
                <a16:creationId xmlns:a16="http://schemas.microsoft.com/office/drawing/2014/main" id="{2A720240-992A-85D1-98CB-E10BD83A785B}"/>
              </a:ext>
            </a:extLst>
          </p:cNvPr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sz="2000" dirty="0">
              <a:latin typeface="Arial" panose="020B0604020202020204" pitchFamily="34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single dataset compares AI, Human, and Hybrid marketing directly. 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Therefore, a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Synthesized Dataset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was created.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compiled from: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McKinsey &amp; Company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The State of AI (2023), Next in Personalization Report (2021)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Deloitte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State of AI in the Enterprise (2022), AI-Powered Marketing Report (2023)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Salesforce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State of Marketing Report (2023), State of Marketing Report (2022)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HubSpot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State of Marketing Report (2023), Marketing Statistics &amp; Trends Report (2022)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Statista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Artificial Intelligence in Marketing – Statistics &amp; Facts (2023), Digital Marketing Performance Statistics (2022)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000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67665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437722-1817-BF89-3758-6B5E6B7DB9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>
            <a:extLst>
              <a:ext uri="{FF2B5EF4-FFF2-40B4-BE49-F238E27FC236}">
                <a16:creationId xmlns:a16="http://schemas.microsoft.com/office/drawing/2014/main" id="{2657B3AA-8FD7-F77D-C5EC-AC3C6475D4DF}"/>
              </a:ext>
            </a:extLst>
          </p:cNvPr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2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 Selection</a:t>
            </a:r>
            <a:r>
              <a:rPr lang="en-US" sz="32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110" name="TextShape 3">
            <a:extLst>
              <a:ext uri="{FF2B5EF4-FFF2-40B4-BE49-F238E27FC236}">
                <a16:creationId xmlns:a16="http://schemas.microsoft.com/office/drawing/2014/main" id="{C18B6873-FDCE-A81C-B954-641FB4F4E0C1}"/>
              </a:ext>
            </a:extLst>
          </p:cNvPr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9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>
            <a:extLst>
              <a:ext uri="{FF2B5EF4-FFF2-40B4-BE49-F238E27FC236}">
                <a16:creationId xmlns:a16="http://schemas.microsoft.com/office/drawing/2014/main" id="{8BF9FE5B-F878-D3B8-852B-767914589004}"/>
              </a:ext>
            </a:extLst>
          </p:cNvPr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 shows the best overall performance</a:t>
            </a:r>
            <a:r>
              <a:rPr lang="en-US" sz="2000" b="1" dirty="0"/>
              <a:t>.</a:t>
            </a:r>
            <a:endParaRPr lang="en-US" sz="2000" b="1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DF1E977-4713-A398-908A-84B0ECB5242C}"/>
              </a:ext>
            </a:extLst>
          </p:cNvPr>
          <p:cNvGraphicFramePr>
            <a:graphicFrameLocks noGrp="1"/>
          </p:cNvGraphicFramePr>
          <p:nvPr/>
        </p:nvGraphicFramePr>
        <p:xfrm>
          <a:off x="457199" y="1854200"/>
          <a:ext cx="8044544" cy="38940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2272">
                  <a:extLst>
                    <a:ext uri="{9D8B030D-6E8A-4147-A177-3AD203B41FA5}">
                      <a16:colId xmlns:a16="http://schemas.microsoft.com/office/drawing/2014/main" val="1830745535"/>
                    </a:ext>
                  </a:extLst>
                </a:gridCol>
                <a:gridCol w="4022272">
                  <a:extLst>
                    <a:ext uri="{9D8B030D-6E8A-4147-A177-3AD203B41FA5}">
                      <a16:colId xmlns:a16="http://schemas.microsoft.com/office/drawing/2014/main" val="2656552123"/>
                    </a:ext>
                  </a:extLst>
                </a:gridCol>
              </a:tblGrid>
              <a:tr h="778812">
                <a:tc>
                  <a:txBody>
                    <a:bodyPr/>
                    <a:lstStyle/>
                    <a:p>
                      <a:pPr marL="159385" marR="0" algn="ctr">
                        <a:lnSpc>
                          <a:spcPct val="2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2000" b="1" spc="-1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Model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60020" marR="0" algn="ctr">
                        <a:lnSpc>
                          <a:spcPct val="2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2000" b="1" spc="-1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Accuracy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946695778"/>
                  </a:ext>
                </a:extLst>
              </a:tr>
              <a:tr h="778812">
                <a:tc>
                  <a:txBody>
                    <a:bodyPr/>
                    <a:lstStyle/>
                    <a:p>
                      <a:pPr marL="159385" marR="0" algn="ctr">
                        <a:lnSpc>
                          <a:spcPct val="2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Logistic</a:t>
                      </a:r>
                      <a:r>
                        <a:rPr lang="en-US" sz="2000" spc="-45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spc="-1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Regression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60020" marR="0" algn="ctr">
                        <a:lnSpc>
                          <a:spcPct val="2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2000" spc="-25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82%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567900325"/>
                  </a:ext>
                </a:extLst>
              </a:tr>
              <a:tr h="778812">
                <a:tc>
                  <a:txBody>
                    <a:bodyPr/>
                    <a:lstStyle/>
                    <a:p>
                      <a:pPr marL="159385" marR="0" algn="ctr">
                        <a:lnSpc>
                          <a:spcPct val="2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2000" spc="-1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Support</a:t>
                      </a:r>
                      <a:r>
                        <a:rPr lang="en-US" sz="2000" spc="-25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spc="-1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Vector Machine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60020" marR="0" algn="ctr">
                        <a:lnSpc>
                          <a:spcPct val="2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2000" spc="-25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84%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362509466"/>
                  </a:ext>
                </a:extLst>
              </a:tr>
              <a:tr h="778812">
                <a:tc>
                  <a:txBody>
                    <a:bodyPr/>
                    <a:lstStyle/>
                    <a:p>
                      <a:pPr marL="159385" marR="0" algn="ctr">
                        <a:lnSpc>
                          <a:spcPct val="2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Decision</a:t>
                      </a:r>
                      <a:r>
                        <a:rPr lang="en-US" sz="2000" spc="-55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spc="-2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Tree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60020" marR="0" algn="ctr">
                        <a:lnSpc>
                          <a:spcPct val="2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2000" spc="-25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86%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798076599"/>
                  </a:ext>
                </a:extLst>
              </a:tr>
              <a:tr h="778812">
                <a:tc>
                  <a:txBody>
                    <a:bodyPr/>
                    <a:lstStyle/>
                    <a:p>
                      <a:pPr marL="159385" marR="0" algn="ctr">
                        <a:lnSpc>
                          <a:spcPct val="2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Random</a:t>
                      </a:r>
                      <a:r>
                        <a:rPr lang="en-US" sz="2000" spc="-3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spc="-1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Forest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60020" marR="0" algn="ctr">
                        <a:lnSpc>
                          <a:spcPct val="2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2000" spc="-25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89%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552496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950407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D92134-D95D-8ED9-9DEB-318991746B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>
            <a:extLst>
              <a:ext uri="{FF2B5EF4-FFF2-40B4-BE49-F238E27FC236}">
                <a16:creationId xmlns:a16="http://schemas.microsoft.com/office/drawing/2014/main" id="{239FA8DA-8192-1FDE-3AA4-A67650B992E7}"/>
              </a:ext>
            </a:extLst>
          </p:cNvPr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</p:txBody>
      </p:sp>
      <p:sp>
        <p:nvSpPr>
          <p:cNvPr id="110" name="TextShape 3">
            <a:extLst>
              <a:ext uri="{FF2B5EF4-FFF2-40B4-BE49-F238E27FC236}">
                <a16:creationId xmlns:a16="http://schemas.microsoft.com/office/drawing/2014/main" id="{36E0A7B6-6C64-E338-6270-B98A8307C7D0}"/>
              </a:ext>
            </a:extLst>
          </p:cNvPr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10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>
            <a:extLst>
              <a:ext uri="{FF2B5EF4-FFF2-40B4-BE49-F238E27FC236}">
                <a16:creationId xmlns:a16="http://schemas.microsoft.com/office/drawing/2014/main" id="{5013BB1F-39C1-9A25-7CA9-ACEFE7D3A8E4}"/>
              </a:ext>
            </a:extLst>
          </p:cNvPr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 shows the best overall performance</a:t>
            </a:r>
            <a:r>
              <a:rPr lang="en-US" sz="2000" b="1" dirty="0"/>
              <a:t>.</a:t>
            </a:r>
            <a:endParaRPr lang="en-US" sz="2000" b="1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17F02B02-4C61-E02A-F7D1-45F1986EB840}"/>
              </a:ext>
            </a:extLst>
          </p:cNvPr>
          <p:cNvGrpSpPr>
            <a:grpSpLocks/>
          </p:cNvGrpSpPr>
          <p:nvPr/>
        </p:nvGrpSpPr>
        <p:grpSpPr>
          <a:xfrm>
            <a:off x="457200" y="1792197"/>
            <a:ext cx="8229240" cy="4428138"/>
            <a:chOff x="4762" y="4762"/>
            <a:chExt cx="3162935" cy="1880235"/>
          </a:xfrm>
        </p:grpSpPr>
        <p:pic>
          <p:nvPicPr>
            <p:cNvPr id="3" name="Image 2">
              <a:extLst>
                <a:ext uri="{FF2B5EF4-FFF2-40B4-BE49-F238E27FC236}">
                  <a16:creationId xmlns:a16="http://schemas.microsoft.com/office/drawing/2014/main" id="{DBB70222-3A63-977A-D4C0-243980F1F765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3392" y="81981"/>
              <a:ext cx="3049188" cy="1761024"/>
            </a:xfrm>
            <a:prstGeom prst="rect">
              <a:avLst/>
            </a:prstGeom>
          </p:spPr>
        </p:pic>
        <p:sp>
          <p:nvSpPr>
            <p:cNvPr id="6" name="Graphic 3">
              <a:extLst>
                <a:ext uri="{FF2B5EF4-FFF2-40B4-BE49-F238E27FC236}">
                  <a16:creationId xmlns:a16="http://schemas.microsoft.com/office/drawing/2014/main" id="{EC2201CC-7808-7CEF-8182-8C06E36B3C2C}"/>
                </a:ext>
              </a:extLst>
            </p:cNvPr>
            <p:cNvSpPr/>
            <p:nvPr/>
          </p:nvSpPr>
          <p:spPr>
            <a:xfrm>
              <a:off x="4762" y="4762"/>
              <a:ext cx="3162935" cy="1880235"/>
            </a:xfrm>
            <a:custGeom>
              <a:avLst/>
              <a:gdLst/>
              <a:ahLst/>
              <a:cxnLst/>
              <a:rect l="l" t="t" r="r" b="b"/>
              <a:pathLst>
                <a:path w="3162935" h="1880235">
                  <a:moveTo>
                    <a:pt x="0" y="1880235"/>
                  </a:moveTo>
                  <a:lnTo>
                    <a:pt x="3162427" y="1880235"/>
                  </a:lnTo>
                  <a:lnTo>
                    <a:pt x="3162427" y="0"/>
                  </a:lnTo>
                  <a:lnTo>
                    <a:pt x="0" y="0"/>
                  </a:lnTo>
                  <a:lnTo>
                    <a:pt x="0" y="188023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  <a:prstDash val="solid"/>
            </a:ln>
          </p:spPr>
          <p:txBody>
            <a:bodyPr wrap="square" lIns="0" tIns="0" rIns="0" bIns="0" rtlCol="0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4382355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404DB2-44BD-F317-4004-899962C01B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>
            <a:extLst>
              <a:ext uri="{FF2B5EF4-FFF2-40B4-BE49-F238E27FC236}">
                <a16:creationId xmlns:a16="http://schemas.microsoft.com/office/drawing/2014/main" id="{8C181EC1-A83D-0F82-71E8-2C39E49FC266}"/>
              </a:ext>
            </a:extLst>
          </p:cNvPr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and Findings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>
            <a:extLst>
              <a:ext uri="{FF2B5EF4-FFF2-40B4-BE49-F238E27FC236}">
                <a16:creationId xmlns:a16="http://schemas.microsoft.com/office/drawing/2014/main" id="{B8971387-5DFE-EC58-F057-ABBE9D181EC4}"/>
              </a:ext>
            </a:extLst>
          </p:cNvPr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11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>
            <a:extLst>
              <a:ext uri="{FF2B5EF4-FFF2-40B4-BE49-F238E27FC236}">
                <a16:creationId xmlns:a16="http://schemas.microsoft.com/office/drawing/2014/main" id="{B3D3B11A-110E-C248-5FB7-89A7D6293787}"/>
              </a:ext>
            </a:extLst>
          </p:cNvPr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Hybrid shows the best overall performance</a:t>
            </a:r>
            <a:r>
              <a:rPr lang="en-US" sz="2000" b="1" dirty="0"/>
              <a:t>.</a:t>
            </a:r>
            <a:endParaRPr lang="en-US" sz="2000" b="1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0A0B56FA-EF4B-5E0D-0BC9-ECBAD51E57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6811857"/>
              </p:ext>
            </p:extLst>
          </p:nvPr>
        </p:nvGraphicFramePr>
        <p:xfrm>
          <a:off x="286439" y="1938967"/>
          <a:ext cx="8571122" cy="4286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9282">
                  <a:extLst>
                    <a:ext uri="{9D8B030D-6E8A-4147-A177-3AD203B41FA5}">
                      <a16:colId xmlns:a16="http://schemas.microsoft.com/office/drawing/2014/main" val="1743605409"/>
                    </a:ext>
                  </a:extLst>
                </a:gridCol>
                <a:gridCol w="1079610">
                  <a:extLst>
                    <a:ext uri="{9D8B030D-6E8A-4147-A177-3AD203B41FA5}">
                      <a16:colId xmlns:a16="http://schemas.microsoft.com/office/drawing/2014/main" val="2358747076"/>
                    </a:ext>
                  </a:extLst>
                </a:gridCol>
                <a:gridCol w="1224446">
                  <a:extLst>
                    <a:ext uri="{9D8B030D-6E8A-4147-A177-3AD203B41FA5}">
                      <a16:colId xmlns:a16="http://schemas.microsoft.com/office/drawing/2014/main" val="726712900"/>
                    </a:ext>
                  </a:extLst>
                </a:gridCol>
                <a:gridCol w="1224446">
                  <a:extLst>
                    <a:ext uri="{9D8B030D-6E8A-4147-A177-3AD203B41FA5}">
                      <a16:colId xmlns:a16="http://schemas.microsoft.com/office/drawing/2014/main" val="3644679610"/>
                    </a:ext>
                  </a:extLst>
                </a:gridCol>
                <a:gridCol w="1224446">
                  <a:extLst>
                    <a:ext uri="{9D8B030D-6E8A-4147-A177-3AD203B41FA5}">
                      <a16:colId xmlns:a16="http://schemas.microsoft.com/office/drawing/2014/main" val="2798583875"/>
                    </a:ext>
                  </a:extLst>
                </a:gridCol>
                <a:gridCol w="1224446">
                  <a:extLst>
                    <a:ext uri="{9D8B030D-6E8A-4147-A177-3AD203B41FA5}">
                      <a16:colId xmlns:a16="http://schemas.microsoft.com/office/drawing/2014/main" val="1402407579"/>
                    </a:ext>
                  </a:extLst>
                </a:gridCol>
                <a:gridCol w="1224446">
                  <a:extLst>
                    <a:ext uri="{9D8B030D-6E8A-4147-A177-3AD203B41FA5}">
                      <a16:colId xmlns:a16="http://schemas.microsoft.com/office/drawing/2014/main" val="1068644267"/>
                    </a:ext>
                  </a:extLst>
                </a:gridCol>
              </a:tblGrid>
              <a:tr h="1039385">
                <a:tc>
                  <a:txBody>
                    <a:bodyPr/>
                    <a:lstStyle/>
                    <a:p>
                      <a:pPr marL="184150" marR="64770" indent="-106680" algn="ctr">
                        <a:lnSpc>
                          <a:spcPct val="150000"/>
                        </a:lnSpc>
                        <a:spcBef>
                          <a:spcPts val="545"/>
                        </a:spcBef>
                        <a:buNone/>
                      </a:pPr>
                      <a:r>
                        <a:rPr lang="en-US" sz="2000" spc="-1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Campaign</a:t>
                      </a:r>
                      <a:r>
                        <a:rPr lang="en-US" sz="2000" spc="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spc="-2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Type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3980" marR="88900" indent="20955" algn="ctr">
                        <a:lnSpc>
                          <a:spcPct val="150000"/>
                        </a:lnSpc>
                        <a:spcBef>
                          <a:spcPts val="20"/>
                        </a:spcBef>
                        <a:buNone/>
                      </a:pPr>
                      <a:r>
                        <a:rPr lang="en-US" sz="2000" spc="-2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Avg</a:t>
                      </a:r>
                      <a:r>
                        <a:rPr lang="en-US" sz="2000" spc="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spc="-25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Time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92075" marR="0" algn="ctr">
                        <a:lnSpc>
                          <a:spcPct val="150000"/>
                        </a:lnSpc>
                        <a:spcBef>
                          <a:spcPts val="5"/>
                        </a:spcBef>
                        <a:buNone/>
                      </a:pPr>
                      <a:r>
                        <a:rPr lang="en-US" sz="2000" spc="-1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(hrs.)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0010" marR="64135" indent="-5080" algn="ctr">
                        <a:lnSpc>
                          <a:spcPct val="150000"/>
                        </a:lnSpc>
                        <a:spcBef>
                          <a:spcPts val="20"/>
                        </a:spcBef>
                        <a:buNone/>
                      </a:pPr>
                      <a:r>
                        <a:rPr lang="en-US" sz="2000" spc="-1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Engag</a:t>
                      </a:r>
                      <a:r>
                        <a:rPr lang="en-US" sz="2000" spc="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spc="-1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ement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127635" marR="0" algn="ctr">
                        <a:lnSpc>
                          <a:spcPct val="150000"/>
                        </a:lnSpc>
                        <a:spcBef>
                          <a:spcPts val="5"/>
                        </a:spcBef>
                        <a:buNone/>
                      </a:pPr>
                      <a:r>
                        <a:rPr lang="en-US" sz="2000" spc="-25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(%)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7635" marR="71755" indent="-43180" algn="ctr">
                        <a:lnSpc>
                          <a:spcPct val="150000"/>
                        </a:lnSpc>
                        <a:spcBef>
                          <a:spcPts val="545"/>
                        </a:spcBef>
                        <a:buNone/>
                      </a:pPr>
                      <a:r>
                        <a:rPr lang="en-US" sz="2000" spc="-1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Conversi</a:t>
                      </a:r>
                      <a:r>
                        <a:rPr lang="en-US" sz="2000" spc="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on</a:t>
                      </a:r>
                      <a:r>
                        <a:rPr lang="en-US" sz="2000" spc="-15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(%)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6525" marR="72390" indent="-52070" algn="ctr">
                        <a:lnSpc>
                          <a:spcPct val="150000"/>
                        </a:lnSpc>
                        <a:spcBef>
                          <a:spcPts val="545"/>
                        </a:spcBef>
                        <a:buNone/>
                      </a:pPr>
                      <a:r>
                        <a:rPr lang="en-US" sz="2000" spc="-1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Recall</a:t>
                      </a:r>
                      <a:r>
                        <a:rPr lang="en-US" sz="2000" spc="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spc="-2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(%)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18745" marR="68580" indent="-44450" algn="ctr">
                        <a:lnSpc>
                          <a:spcPct val="150000"/>
                        </a:lnSpc>
                        <a:spcBef>
                          <a:spcPts val="20"/>
                        </a:spcBef>
                        <a:buNone/>
                      </a:pPr>
                      <a:r>
                        <a:rPr lang="en-US" sz="2000" spc="-1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Creati</a:t>
                      </a:r>
                      <a:r>
                        <a:rPr lang="en-US" sz="2000" spc="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spc="-2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vity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81915" marR="0" algn="ctr">
                        <a:lnSpc>
                          <a:spcPct val="150000"/>
                        </a:lnSpc>
                        <a:spcBef>
                          <a:spcPts val="5"/>
                        </a:spcBef>
                        <a:buNone/>
                      </a:pPr>
                      <a:r>
                        <a:rPr lang="en-US" sz="2000" spc="-1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Score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4615" marR="71755" indent="-10795" algn="ctr">
                        <a:lnSpc>
                          <a:spcPct val="150000"/>
                        </a:lnSpc>
                        <a:spcBef>
                          <a:spcPts val="545"/>
                        </a:spcBef>
                        <a:buNone/>
                      </a:pPr>
                      <a:r>
                        <a:rPr lang="en-US" sz="2000" spc="-1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Accura</a:t>
                      </a:r>
                      <a:r>
                        <a:rPr lang="en-US" sz="2000" spc="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cy</a:t>
                      </a:r>
                      <a:r>
                        <a:rPr lang="en-US" sz="2000" spc="-15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spc="-25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(%)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3445713"/>
                  </a:ext>
                </a:extLst>
              </a:tr>
              <a:tr h="961138">
                <a:tc>
                  <a:txBody>
                    <a:bodyPr/>
                    <a:lstStyle/>
                    <a:p>
                      <a:pPr marL="6350" marR="1270" algn="ctr">
                        <a:lnSpc>
                          <a:spcPct val="150000"/>
                        </a:lnSpc>
                        <a:spcBef>
                          <a:spcPts val="5"/>
                        </a:spcBef>
                        <a:buNone/>
                      </a:pPr>
                      <a:r>
                        <a:rPr lang="en-US" sz="2000" spc="-1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AI-Driven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810" marR="635" algn="ctr">
                        <a:lnSpc>
                          <a:spcPct val="150000"/>
                        </a:lnSpc>
                        <a:spcBef>
                          <a:spcPts val="5"/>
                        </a:spcBef>
                        <a:buNone/>
                      </a:pPr>
                      <a:r>
                        <a:rPr lang="en-US" sz="2000" spc="-5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175" marR="0" algn="ctr">
                        <a:lnSpc>
                          <a:spcPct val="150000"/>
                        </a:lnSpc>
                        <a:spcBef>
                          <a:spcPts val="5"/>
                        </a:spcBef>
                        <a:buNone/>
                      </a:pPr>
                      <a:r>
                        <a:rPr lang="en-US" sz="2000" spc="-25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6.4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445" marR="0" algn="ctr">
                        <a:lnSpc>
                          <a:spcPct val="150000"/>
                        </a:lnSpc>
                        <a:spcBef>
                          <a:spcPts val="5"/>
                        </a:spcBef>
                        <a:buNone/>
                      </a:pPr>
                      <a:r>
                        <a:rPr lang="en-US" sz="2000" spc="-25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3.2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445" marR="0" algn="ctr">
                        <a:lnSpc>
                          <a:spcPct val="150000"/>
                        </a:lnSpc>
                        <a:spcBef>
                          <a:spcPts val="5"/>
                        </a:spcBef>
                        <a:buNone/>
                      </a:pPr>
                      <a:r>
                        <a:rPr lang="en-US" sz="2000" spc="-25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45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810" marR="0" algn="ctr">
                        <a:lnSpc>
                          <a:spcPct val="150000"/>
                        </a:lnSpc>
                        <a:spcBef>
                          <a:spcPts val="5"/>
                        </a:spcBef>
                        <a:buNone/>
                      </a:pPr>
                      <a:r>
                        <a:rPr lang="en-US" sz="2000" spc="-25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5.0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080" marR="1905" algn="ctr">
                        <a:lnSpc>
                          <a:spcPct val="150000"/>
                        </a:lnSpc>
                        <a:spcBef>
                          <a:spcPts val="5"/>
                        </a:spcBef>
                        <a:buNone/>
                      </a:pPr>
                      <a:r>
                        <a:rPr lang="en-US" sz="2000" spc="-25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85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275156038"/>
                  </a:ext>
                </a:extLst>
              </a:tr>
              <a:tr h="1047684">
                <a:tc>
                  <a:txBody>
                    <a:bodyPr/>
                    <a:lstStyle/>
                    <a:p>
                      <a:pPr marL="6350" marR="0" algn="ctr">
                        <a:lnSpc>
                          <a:spcPct val="150000"/>
                        </a:lnSpc>
                        <a:spcBef>
                          <a:spcPts val="20"/>
                        </a:spcBef>
                        <a:buNone/>
                      </a:pPr>
                      <a:r>
                        <a:rPr lang="en-US" sz="2000" spc="-1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Human-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6350" marR="1905" algn="ctr">
                        <a:lnSpc>
                          <a:spcPct val="150000"/>
                        </a:lnSpc>
                        <a:spcBef>
                          <a:spcPts val="135"/>
                        </a:spcBef>
                        <a:buNone/>
                      </a:pPr>
                      <a:r>
                        <a:rPr lang="en-US" sz="2000" spc="-25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Led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810" marR="0" algn="ctr">
                        <a:lnSpc>
                          <a:spcPct val="150000"/>
                        </a:lnSpc>
                        <a:spcBef>
                          <a:spcPts val="545"/>
                        </a:spcBef>
                        <a:buNone/>
                      </a:pPr>
                      <a:r>
                        <a:rPr lang="en-US" sz="2000" spc="-25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175" marR="0" algn="ctr">
                        <a:lnSpc>
                          <a:spcPct val="150000"/>
                        </a:lnSpc>
                        <a:spcBef>
                          <a:spcPts val="545"/>
                        </a:spcBef>
                        <a:buNone/>
                      </a:pPr>
                      <a:r>
                        <a:rPr lang="en-US" sz="2000" spc="-25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8.0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445" marR="0" algn="ctr">
                        <a:lnSpc>
                          <a:spcPct val="150000"/>
                        </a:lnSpc>
                        <a:spcBef>
                          <a:spcPts val="545"/>
                        </a:spcBef>
                        <a:buNone/>
                      </a:pPr>
                      <a:r>
                        <a:rPr lang="en-US" sz="2000" spc="-25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4.4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445" marR="0" algn="ctr">
                        <a:lnSpc>
                          <a:spcPct val="150000"/>
                        </a:lnSpc>
                        <a:spcBef>
                          <a:spcPts val="545"/>
                        </a:spcBef>
                        <a:buNone/>
                      </a:pPr>
                      <a:r>
                        <a:rPr lang="en-US" sz="2000" spc="-25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70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810" marR="0" algn="ctr">
                        <a:lnSpc>
                          <a:spcPct val="150000"/>
                        </a:lnSpc>
                        <a:spcBef>
                          <a:spcPts val="545"/>
                        </a:spcBef>
                        <a:buNone/>
                      </a:pPr>
                      <a:r>
                        <a:rPr lang="en-US" sz="2000" spc="-25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8.5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080" marR="0" algn="ctr">
                        <a:lnSpc>
                          <a:spcPct val="150000"/>
                        </a:lnSpc>
                        <a:spcBef>
                          <a:spcPts val="545"/>
                        </a:spcBef>
                        <a:buNone/>
                      </a:pPr>
                      <a:r>
                        <a:rPr lang="en-US" sz="2000" spc="-25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N/A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87208674"/>
                  </a:ext>
                </a:extLst>
              </a:tr>
              <a:tr h="961138">
                <a:tc>
                  <a:txBody>
                    <a:bodyPr/>
                    <a:lstStyle/>
                    <a:p>
                      <a:pPr marL="6350" marR="1905" algn="ctr">
                        <a:lnSpc>
                          <a:spcPct val="150000"/>
                        </a:lnSpc>
                        <a:spcBef>
                          <a:spcPts val="5"/>
                        </a:spcBef>
                        <a:buNone/>
                      </a:pPr>
                      <a:r>
                        <a:rPr lang="en-US" sz="2000" spc="-1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Hybrid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810" marR="635" algn="ctr">
                        <a:lnSpc>
                          <a:spcPct val="150000"/>
                        </a:lnSpc>
                        <a:spcBef>
                          <a:spcPts val="5"/>
                        </a:spcBef>
                        <a:buNone/>
                      </a:pPr>
                      <a:r>
                        <a:rPr lang="en-US" sz="2000" spc="-5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175" marR="0" algn="ctr">
                        <a:lnSpc>
                          <a:spcPct val="150000"/>
                        </a:lnSpc>
                        <a:spcBef>
                          <a:spcPts val="5"/>
                        </a:spcBef>
                        <a:buNone/>
                      </a:pPr>
                      <a:r>
                        <a:rPr lang="en-US" sz="2000" spc="-25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9.1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445" marR="0" algn="ctr">
                        <a:lnSpc>
                          <a:spcPct val="150000"/>
                        </a:lnSpc>
                        <a:spcBef>
                          <a:spcPts val="5"/>
                        </a:spcBef>
                        <a:buNone/>
                      </a:pPr>
                      <a:r>
                        <a:rPr lang="en-US" sz="2000" spc="-25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5.5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445" marR="0" algn="ctr">
                        <a:lnSpc>
                          <a:spcPct val="150000"/>
                        </a:lnSpc>
                        <a:spcBef>
                          <a:spcPts val="5"/>
                        </a:spcBef>
                        <a:buNone/>
                      </a:pPr>
                      <a:r>
                        <a:rPr lang="en-US" sz="2000" spc="-25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80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810" marR="0" algn="ctr">
                        <a:lnSpc>
                          <a:spcPct val="150000"/>
                        </a:lnSpc>
                        <a:spcBef>
                          <a:spcPts val="5"/>
                        </a:spcBef>
                        <a:buNone/>
                      </a:pPr>
                      <a:r>
                        <a:rPr lang="en-US" sz="2000" spc="-25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9.0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080" marR="1905" algn="ctr">
                        <a:lnSpc>
                          <a:spcPct val="150000"/>
                        </a:lnSpc>
                        <a:spcBef>
                          <a:spcPts val="5"/>
                        </a:spcBef>
                        <a:buNone/>
                      </a:pPr>
                      <a:r>
                        <a:rPr lang="en-US" sz="2000" spc="-25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90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3523397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390993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8C2E29-D2F4-E96A-29B9-D91FF34153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>
            <a:extLst>
              <a:ext uri="{FF2B5EF4-FFF2-40B4-BE49-F238E27FC236}">
                <a16:creationId xmlns:a16="http://schemas.microsoft.com/office/drawing/2014/main" id="{ACF8EC48-AC49-7968-A13B-208B446E8ADC}"/>
              </a:ext>
            </a:extLst>
          </p:cNvPr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Findings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>
            <a:extLst>
              <a:ext uri="{FF2B5EF4-FFF2-40B4-BE49-F238E27FC236}">
                <a16:creationId xmlns:a16="http://schemas.microsoft.com/office/drawing/2014/main" id="{96D755F2-CD3D-0E1F-A372-74569450B824}"/>
              </a:ext>
            </a:extLst>
          </p:cNvPr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12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>
            <a:extLst>
              <a:ext uri="{FF2B5EF4-FFF2-40B4-BE49-F238E27FC236}">
                <a16:creationId xmlns:a16="http://schemas.microsoft.com/office/drawing/2014/main" id="{7EC85B77-EFF4-5714-91A6-DEED863D6E34}"/>
              </a:ext>
            </a:extLst>
          </p:cNvPr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AI-driven marketing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the </a:t>
            </a:r>
            <a:r>
              <a:rPr lang="en-US" altLang="en-US" sz="2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efficient in terms of time and cost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has </a:t>
            </a:r>
            <a:r>
              <a:rPr lang="en-US" altLang="en-US" sz="2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predictive accuracy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but </a:t>
            </a:r>
            <a:r>
              <a:rPr lang="en-US" altLang="en-US" sz="2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lower emotional and creative impact. 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sz="20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Human-led marketing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performs </a:t>
            </a:r>
            <a:r>
              <a:rPr lang="en-US" altLang="en-US" sz="2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better in creativity, engagement, and brand recall.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Hybrid marketing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shows the </a:t>
            </a:r>
            <a:r>
              <a:rPr lang="en-US" altLang="en-US" sz="2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highest overall performance. </a:t>
            </a: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Hybrid strategy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the </a:t>
            </a:r>
            <a:r>
              <a:rPr lang="en-US" altLang="en-US" sz="2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best balance between efficiency and creativity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Marketing success depends on both data accuracy and creativity. </a:t>
            </a:r>
          </a:p>
        </p:txBody>
      </p:sp>
    </p:spTree>
    <p:extLst>
      <p:ext uri="{BB962C8B-B14F-4D97-AF65-F5344CB8AC3E}">
        <p14:creationId xmlns:p14="http://schemas.microsoft.com/office/powerpoint/2010/main" val="38448633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A7DA60-8E3F-3B40-BE05-FE9D6FE7E0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>
            <a:extLst>
              <a:ext uri="{FF2B5EF4-FFF2-40B4-BE49-F238E27FC236}">
                <a16:creationId xmlns:a16="http://schemas.microsoft.com/office/drawing/2014/main" id="{E092490F-F136-C2E6-21E0-5828A9CF1401}"/>
              </a:ext>
            </a:extLst>
          </p:cNvPr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>
            <a:extLst>
              <a:ext uri="{FF2B5EF4-FFF2-40B4-BE49-F238E27FC236}">
                <a16:creationId xmlns:a16="http://schemas.microsoft.com/office/drawing/2014/main" id="{8D83AA53-E8B6-3A3C-F842-090BDDC67CBD}"/>
              </a:ext>
            </a:extLst>
          </p:cNvPr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13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>
            <a:extLst>
              <a:ext uri="{FF2B5EF4-FFF2-40B4-BE49-F238E27FC236}">
                <a16:creationId xmlns:a16="http://schemas.microsoft.com/office/drawing/2014/main" id="{377C46B4-CD3E-36EE-FCDE-30AB2CE30DE8}"/>
              </a:ext>
            </a:extLst>
          </p:cNvPr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improves efficiency, automation, and data-driven decision making. 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Human marketing improves creativity, storytelling, and brand identity. 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alone cannot replace human creativity in marketing. 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Hybrid marketing strategy is the most effective approach. 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marketing will depend on collaboration between AI and humans.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conclusion, Artificial Intelligence is transforming business and marketing by improving efficiency, personalization, and analytics. However, </a:t>
            </a:r>
            <a:r>
              <a:rPr lang="en-US" sz="2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marketing also requires creativity, emotional connection, and brand storytelling, which AI cannot fully replicate.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Therefore, organizations should adopt a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hybrid marketing approach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AI is used for data analysis and automation, and humans focus on creativity and strategy. This combination </a:t>
            </a:r>
            <a:r>
              <a:rPr lang="en-US" sz="2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leads to the most effective marketing performance and represents the future of marketing.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6494200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1297577" y="2821578"/>
            <a:ext cx="6705599" cy="1410788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US" sz="5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14</a:t>
            </a:fld>
            <a:endParaRPr lang="en-GB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344798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96F1BF43DDE004485E7A868D137D60A" ma:contentTypeVersion="0" ma:contentTypeDescription="Create a new document." ma:contentTypeScope="" ma:versionID="47fff7f98a9c49c088ba096c14cf4458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c05e9f2c4932a6a674126b9dde7716ea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37ED6F0-5E4C-4CD0-9B68-9C53F925A6F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A62A602-78C1-468C-BB25-57CD481DB741}">
  <ds:schemaRefs>
    <ds:schemaRef ds:uri="http://www.w3.org/XML/1998/namespace"/>
    <ds:schemaRef ds:uri="http://schemas.openxmlformats.org/package/2006/metadata/core-properties"/>
    <ds:schemaRef ds:uri="http://schemas.microsoft.com/office/2006/metadata/properties"/>
    <ds:schemaRef ds:uri="http://purl.org/dc/elements/1.1/"/>
    <ds:schemaRef ds:uri="http://purl.org/dc/terms/"/>
    <ds:schemaRef ds:uri="http://schemas.microsoft.com/office/2006/documentManagement/types"/>
    <ds:schemaRef ds:uri="http://schemas.microsoft.com/office/infopath/2007/PartnerControls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491DF113-39A2-46D5-BFDA-E63300A9ECA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35259</TotalTime>
  <Words>874</Words>
  <Application>Microsoft Office PowerPoint</Application>
  <PresentationFormat>On-screen Show (4:3)</PresentationFormat>
  <Paragraphs>221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Courier New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CCC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ABC</dc:creator>
  <cp:lastModifiedBy>Mandeep Kaur</cp:lastModifiedBy>
  <cp:revision>2296</cp:revision>
  <dcterms:created xsi:type="dcterms:W3CDTF">2010-04-09T07:36:15Z</dcterms:created>
  <dcterms:modified xsi:type="dcterms:W3CDTF">2026-05-19T07:31:52Z</dcterms:modified>
  <dc:language>en-GB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CCC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0</vt:i4>
  </property>
  <property fmtid="{D5CDD505-2E9C-101B-9397-08002B2CF9AE}" pid="9" name="PresentationFormat">
    <vt:lpwstr>On-screen Show (4:3)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37</vt:i4>
  </property>
  <property fmtid="{D5CDD505-2E9C-101B-9397-08002B2CF9AE}" pid="13" name="ContentTypeId">
    <vt:lpwstr>0x010100096F1BF43DDE004485E7A868D137D60A</vt:lpwstr>
  </property>
</Properties>
</file>